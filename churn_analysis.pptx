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708" y="3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E8A02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366-48D2-9EF7-D1EAA3120159}"/>
              </c:ext>
            </c:extLst>
          </c:dPt>
          <c:dPt>
            <c:idx val="1"/>
            <c:invertIfNegative val="0"/>
            <c:bubble3D val="0"/>
            <c:spPr>
              <a:solidFill>
                <a:srgbClr val="447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66-48D2-9EF7-D1EAA3120159}"/>
              </c:ext>
            </c:extLst>
          </c:dPt>
          <c:dPt>
            <c:idx val="2"/>
            <c:invertIfNegative val="0"/>
            <c:bubble3D val="0"/>
            <c:spPr>
              <a:solidFill>
                <a:srgbClr val="2E5F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366-48D2-9EF7-D1EAA312015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Recall</c:v>
                </c:pt>
                <c:pt idx="1">
                  <c:v>Precision</c:v>
                </c:pt>
                <c:pt idx="2">
                  <c:v>Random targeting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</c:v>
                </c:pt>
                <c:pt idx="1">
                  <c:v>45.5</c:v>
                </c:pt>
                <c:pt idx="2">
                  <c:v>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366-48D2-9EF7-D1EAA31201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4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E5F8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4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62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7853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7160" y="1645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BRIEF  |  01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4592" y="475488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" y="2971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Retention Intelligence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3310128"/>
            <a:ext cx="2560320" cy="22860"/>
          </a:xfrm>
          <a:prstGeom prst="rect">
            <a:avLst/>
          </a:prstGeom>
          <a:solidFill>
            <a:srgbClr val="A8C4E0"/>
          </a:solidFill>
          <a:ln w="12700">
            <a:solidFill>
              <a:srgbClr val="A8C4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64592" y="34564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64592" y="40690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ARPU driven by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30% of subscribers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749040" y="32004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749040" y="548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49040" y="9601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C4E0"/>
                </a:solidFill>
              </a:rPr>
              <a:t>Industry churn rate spans </a:t>
            </a:r>
            <a:r>
              <a:rPr lang="en-US" sz="1150" b="1" dirty="0">
                <a:solidFill>
                  <a:srgbClr val="FFFFFF"/>
                </a:solidFill>
              </a:rPr>
              <a:t>15–25%</a:t>
            </a:r>
            <a:r>
              <a:rPr lang="en-US" sz="1050" dirty="0">
                <a:solidFill>
                  <a:srgbClr val="A8C4E0"/>
                </a:solidFill>
              </a:rPr>
              <a:t> of the subscriber base annually.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C4E0"/>
                </a:solidFill>
              </a:rPr>
              <a:t>Acquiring a new customer costs 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5–10x more</a:t>
            </a:r>
            <a:r>
              <a:rPr lang="en-US" sz="1050" dirty="0">
                <a:solidFill>
                  <a:srgbClr val="A8C4E0"/>
                </a:solidFill>
              </a:rPr>
              <a:t> than retaining an existing one.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49040" y="1847088"/>
            <a:ext cx="5120640" cy="18288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95681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HVC SEGMENT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749040" y="21762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Focus Population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58768" y="2542032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A8C4E0"/>
                </a:solidFill>
              </a:rPr>
              <a:t>Exclusive focus on High-Value Customers — the top 30% by good-phase recharge (70th percentile).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A8C4E0"/>
                </a:solidFill>
              </a:rPr>
              <a:t>This segment of 30,011 subscribers accounts for ~63% of total ARPU.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A8C4E0"/>
                </a:solidFill>
              </a:rPr>
              <a:t>Protecting this cohort is the primary business imperative.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3511296"/>
            <a:ext cx="5120640" cy="18288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749040" y="362102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PREPAID CHALLENGE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749040" y="3895344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C4E0"/>
                </a:solidFill>
              </a:rPr>
              <a:t>Prepaid churn is </a:t>
            </a:r>
            <a:r>
              <a:rPr lang="en-US" sz="1050" b="1" i="1" dirty="0">
                <a:solidFill>
                  <a:srgbClr val="E8A020"/>
                </a:solidFill>
              </a:rPr>
              <a:t>silent</a:t>
            </a:r>
            <a:r>
              <a:rPr lang="en-US" sz="1000" dirty="0">
                <a:solidFill>
                  <a:srgbClr val="A8C4E0"/>
                </a:solidFill>
              </a:rPr>
              <a:t> — no contract cancellation signal exists. Churn is operationally defined as </a:t>
            </a:r>
            <a:r>
              <a:rPr lang="en-US" sz="1000" b="1" dirty="0">
                <a:solidFill>
                  <a:srgbClr val="FFFFFF"/>
                </a:solidFill>
              </a:rPr>
              <a:t>zero combined usage (Calls + Data)</a:t>
            </a:r>
            <a:r>
              <a:rPr lang="en-US" sz="1000" dirty="0">
                <a:solidFill>
                  <a:srgbClr val="A8C4E0"/>
                </a:solidFill>
              </a:rPr>
              <a:t> recorded in the final observed month. The model objective is a </a:t>
            </a:r>
            <a:r>
              <a:rPr lang="en-US" sz="1050" b="1" dirty="0">
                <a:solidFill>
                  <a:srgbClr val="E8A020"/>
                </a:solidFill>
              </a:rPr>
              <a:t>Safety Net</a:t>
            </a:r>
            <a:r>
              <a:rPr lang="en-US" sz="1000" dirty="0">
                <a:solidFill>
                  <a:srgbClr val="A8C4E0"/>
                </a:solidFill>
              </a:rPr>
              <a:t> that maximises Recall to protect high-profit revenue streams.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PERFORMANCE METRICS  |  02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Results &amp; Churn Indicators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4023360" cy="1261872"/>
          </a:xfrm>
          <a:prstGeom prst="rect">
            <a:avLst/>
          </a:prstGeom>
          <a:solidFill>
            <a:srgbClr val="1B3A5C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969264"/>
            <a:ext cx="54864" cy="12618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FRAMEWORK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122529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Analytical Pipeline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502920" cy="164592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5361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24128" y="153619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Phase — Baseline behavioural reference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1751076"/>
            <a:ext cx="502920" cy="164592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17510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24128" y="1751076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Phase — Detection of behavioural shift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1965960"/>
            <a:ext cx="502920" cy="164592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1965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24128" y="196596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Phase — Target variable identification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359152"/>
            <a:ext cx="4023360" cy="1207008"/>
          </a:xfrm>
          <a:prstGeom prst="rect">
            <a:avLst/>
          </a:prstGeom>
          <a:solidFill>
            <a:srgbClr val="1B3A5C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2359152"/>
            <a:ext cx="54864" cy="120700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241401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STRATEGY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26151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Explainability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201168" cy="20116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7200" y="2971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" y="294436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Tactical Engine — Random Forest Classifier — selected on validation PR-AUC, threshold tuned for F2</a:t>
            </a:r>
            <a:r>
              <a:rPr lang="en-US" sz="900" dirty="0">
                <a:solidFill>
                  <a:srgbClr val="A8C4E0"/>
                </a:solidFill>
              </a:rPr>
              <a:t/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255264"/>
            <a:ext cx="201168" cy="20116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" y="322783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Explainability Layer — SHAP values — customer-level churn drivers</a:t>
            </a:r>
            <a:r>
              <a:rPr lang="en-US" sz="900" dirty="0">
                <a:solidFill>
                  <a:srgbClr val="A8C4E0"/>
                </a:solidFill>
              </a:rPr>
              <a:t/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694176"/>
            <a:ext cx="4023360" cy="1143000"/>
          </a:xfrm>
          <a:prstGeom prst="rect">
            <a:avLst/>
          </a:prstGeom>
          <a:solidFill>
            <a:srgbClr val="1B3A5C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74320" y="3694176"/>
            <a:ext cx="54864" cy="114300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200" y="37490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PREDICTORS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57200" y="3986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" y="398678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Usage Velocity — </a:t>
            </a:r>
            <a:r>
              <a:rPr lang="en-US" sz="900" dirty="0">
                <a:solidFill>
                  <a:srgbClr val="A8C4E0"/>
                </a:solidFill>
              </a:rPr>
              <a:t>Sharp decline in Month 8 usage vs. baseline period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2336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" y="423367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Social Connectivity — Collapse of incoming minutes, including from other networks</a:t>
            </a:r>
            <a:r>
              <a:rPr lang="en-US" sz="900" dirty="0">
                <a:solidFill>
                  <a:srgbClr val="A8C4E0"/>
                </a:solidFill>
              </a:rPr>
              <a:t/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480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5800" y="448056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Mobility Shift — Rising roaming usage in Month 8</a:t>
            </a:r>
            <a:r>
              <a:rPr lang="en-US" sz="900" dirty="0">
                <a:solidFill>
                  <a:srgbClr val="A8C4E0"/>
                </a:solidFill>
              </a:rPr>
              <a:t/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969264"/>
            <a:ext cx="1325880" cy="1828800"/>
          </a:xfrm>
          <a:prstGeom prst="rect">
            <a:avLst/>
          </a:prstGeom>
          <a:solidFill>
            <a:srgbClr val="1B3A5C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754880" y="969264"/>
            <a:ext cx="132588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828032" y="107899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754880" y="1298448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4600" dirty="0"/>
          </a:p>
        </p:txBody>
      </p:sp>
      <p:sp>
        <p:nvSpPr>
          <p:cNvPr id="42" name="Text 40"/>
          <p:cNvSpPr/>
          <p:nvPr/>
        </p:nvSpPr>
        <p:spPr>
          <a:xfrm>
            <a:off x="4828032" y="24140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7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of 100 churners captured (hold-out test)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919472" y="2304288"/>
            <a:ext cx="987552" cy="13690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919472" y="227018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SUCCESS INDICATOR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6236208" y="1078992"/>
            <a:ext cx="1325880" cy="1609344"/>
          </a:xfrm>
          <a:prstGeom prst="rect">
            <a:avLst/>
          </a:prstGeom>
          <a:solidFill>
            <a:srgbClr val="132238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236208" y="1078992"/>
            <a:ext cx="1325880" cy="502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309360" y="11887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236208" y="1408176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5.3x</a:t>
            </a:r>
            <a:endParaRPr lang="en-US" sz="4000" dirty="0"/>
          </a:p>
        </p:txBody>
      </p:sp>
      <p:sp>
        <p:nvSpPr>
          <p:cNvPr id="49" name="Text 47"/>
          <p:cNvSpPr/>
          <p:nvPr/>
        </p:nvSpPr>
        <p:spPr>
          <a:xfrm>
            <a:off x="6309360" y="23042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7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vs random targeting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717536" y="1078992"/>
            <a:ext cx="1325880" cy="1609344"/>
          </a:xfrm>
          <a:prstGeom prst="rect">
            <a:avLst/>
          </a:prstGeom>
          <a:solidFill>
            <a:srgbClr val="132238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7717536" y="1078992"/>
            <a:ext cx="1325880" cy="50292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790688" y="11887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717536" y="1408176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4000" dirty="0"/>
          </a:p>
        </p:txBody>
      </p:sp>
      <p:sp>
        <p:nvSpPr>
          <p:cNvPr id="54" name="Text 52"/>
          <p:cNvSpPr/>
          <p:nvPr/>
        </p:nvSpPr>
        <p:spPr>
          <a:xfrm>
            <a:off x="7790688" y="23042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7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efficiency rate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754880" y="2944368"/>
            <a:ext cx="420624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901184" y="301752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E8A020"/>
                </a:solidFill>
              </a:rPr>
              <a:t>Recall (83%, untouched hold-out set) is the primary success metric — every churner the model misses represents an unrecoverable revenue loss from the highest-value customer segment.</a:t>
            </a:r>
            <a:r>
              <a:rPr lang="en-US" sz="950" dirty="0">
                <a:solidFill>
                  <a:srgbClr val="A8C4E0"/>
                </a:solidFill>
              </a:rPr>
              <a:t/>
            </a:r>
            <a:endParaRPr lang="en-US" sz="1000" dirty="0"/>
          </a:p>
        </p:txBody>
      </p:sp>
      <p:graphicFrame>
        <p:nvGraphicFramePr>
          <p:cNvPr id="57" name="Chart 0"/>
          <p:cNvGraphicFramePr/>
          <p:nvPr/>
        </p:nvGraphicFramePr>
        <p:xfrm>
          <a:off x="4754880" y="3712464"/>
          <a:ext cx="4206240" cy="1170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312</Words>
  <Application>Microsoft Office PowerPoint</Application>
  <PresentationFormat>On-screen Show (16:9)</PresentationFormat>
  <Paragraphs>57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High-Value Subscriber Churn Analysis</dc:title>
  <dc:subject>PptxGenJS Presentation</dc:subject>
  <dc:creator>Samarjit Kabadi</dc:creator>
  <cp:lastModifiedBy>Samarjit Kabadi</cp:lastModifiedBy>
  <cp:revision>2</cp:revision>
  <dcterms:created xsi:type="dcterms:W3CDTF">2026-05-04T19:54:30Z</dcterms:created>
  <dcterms:modified xsi:type="dcterms:W3CDTF">2026-05-04T20:09:49Z</dcterms:modified>
</cp:coreProperties>
</file>